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336" r:id="rId2"/>
    <p:sldId id="351" r:id="rId3"/>
    <p:sldId id="337" r:id="rId4"/>
    <p:sldId id="257" r:id="rId5"/>
    <p:sldId id="352" r:id="rId6"/>
    <p:sldId id="353" r:id="rId7"/>
    <p:sldId id="354" r:id="rId8"/>
    <p:sldId id="278" r:id="rId9"/>
    <p:sldId id="350" r:id="rId10"/>
    <p:sldId id="347" r:id="rId11"/>
    <p:sldId id="349" r:id="rId12"/>
    <p:sldId id="338" r:id="rId13"/>
    <p:sldId id="346" r:id="rId14"/>
    <p:sldId id="290" r:id="rId15"/>
    <p:sldId id="345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2" d="100"/>
          <a:sy n="72" d="100"/>
        </p:scale>
        <p:origin x="132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A7F23-E4AD-4CFC-9928-82A4E7B6E1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7CA773-A05E-4AD6-AAA7-AACB93F38D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BE7DB2-E4CE-48E1-B769-8E2741D5DC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B1056-4F13-4FDC-B690-4230833341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1733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C9D6EA-DDBD-4876-8BE3-8FF33C721B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4C1205-1179-4EEC-B43F-B146C5F643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1B0D25-D93E-4751-9244-AC024E5D5B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DC5C6-C52E-4AF6-B815-2918AE88AC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646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EDBA6C-24BA-4C26-A740-2A52C43975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A6B7FF-F6BB-43D0-AAF8-84979A483F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7C3F3A-2FD5-438D-89FC-40B202F5C9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B7F03A-8AAE-43D7-B193-5CEFA42CF9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437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A96D88-F076-497F-9B2A-FAC37B7C30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600308-69DD-4814-99F6-D3AAD0CC29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996C0-5496-4D8D-A581-204B0DB6C2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8B6F20-50DD-46F5-85E8-499CE78661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08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9E979C6-398B-475A-A71E-7DCF021766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EBFC087-2199-40FB-A710-F029BF1781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82E7E5E-E2C6-4941-9CD0-7D0E408CAB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BC900-AA2C-4B68-950B-D77D614093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10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80912A8-AE03-4650-84A2-6092BF4195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980FE1-A799-46DD-B2F7-29106EBF86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B6C9C3-B41B-4CB1-8DCB-246A3AC37C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1ED61-A0BF-4380-A63E-C777A15F01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372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095FFDE-6046-41C2-9D3F-4C27DB658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3956941-37BB-423A-A90F-AD28F01CD0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1C11800-23A8-4631-9D8D-433C21DB92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7EB7C-F164-463B-81D7-A13F00C595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140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7D1110-CB2B-4657-970E-21FBC68174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199509-8614-4939-86F1-A06262C2E1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00F0F5-154C-4CB5-8992-89B1D3A8EE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B1017-1E2F-4259-8C90-2AF24FF01F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009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F7CAE-3593-40F3-8BD8-CC72F6AE8D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60F8D-31B3-4336-AE30-E3C7DAA9B9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B54284-0930-4115-8842-65FDB67EA1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BE26C-5B71-40ED-92F4-EABC354BA5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25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1A6513-B131-49B7-A0B5-93D37787BF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E267E1-7B14-4DDF-A12B-2D381BF299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6327F2-9C2A-475A-8083-386493F20C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1079AB-947F-4F91-8617-D81805E880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51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41BD8D-DC9A-4B17-A0FA-F5D7BC96F2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CBEEFE-F7E6-45BC-ACB3-4F0E978079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737520-D86A-4DF9-9589-8B9DCD619E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4A9B8-C68B-4261-8083-0B1B8F846A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6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38E45DA1-20C6-4602-9453-B8BA1D119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FDBD981D-EFEB-47C2-810B-3A5EDB2F1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5412" name="Rectangle 4">
            <a:extLst>
              <a:ext uri="{FF2B5EF4-FFF2-40B4-BE49-F238E27FC236}">
                <a16:creationId xmlns:a16="http://schemas.microsoft.com/office/drawing/2014/main" id="{5CE95BA7-866B-4F4E-901C-B2873792485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413" name="Rectangle 5">
            <a:extLst>
              <a:ext uri="{FF2B5EF4-FFF2-40B4-BE49-F238E27FC236}">
                <a16:creationId xmlns:a16="http://schemas.microsoft.com/office/drawing/2014/main" id="{1FB4C2E3-3096-48E2-80C5-F512FE85DB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414" name="Rectangle 6">
            <a:extLst>
              <a:ext uri="{FF2B5EF4-FFF2-40B4-BE49-F238E27FC236}">
                <a16:creationId xmlns:a16="http://schemas.microsoft.com/office/drawing/2014/main" id="{FA4E626C-203D-446C-9DBC-EC4D3A2DF2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0BA2522-1773-406D-80A9-7EAD01E645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 descr="t3">
            <a:extLst>
              <a:ext uri="{FF2B5EF4-FFF2-40B4-BE49-F238E27FC236}">
                <a16:creationId xmlns:a16="http://schemas.microsoft.com/office/drawing/2014/main" id="{2BC71574-2AC1-4B7D-9DE8-CE3626DCB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2E638D5-8633-4BE7-9063-9107FB34527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457200"/>
            <a:ext cx="8686800" cy="762000"/>
          </a:xfrm>
        </p:spPr>
        <p:txBody>
          <a:bodyPr anchor="t"/>
          <a:lstStyle/>
          <a:p>
            <a:r>
              <a:rPr lang="en-US" dirty="0">
                <a:effectLst/>
              </a:rPr>
              <a:t>Dairy Drop</a:t>
            </a:r>
          </a:p>
        </p:txBody>
      </p:sp>
      <p:pic>
        <p:nvPicPr>
          <p:cNvPr id="3075" name="Picture 6">
            <a:extLst>
              <a:ext uri="{FF2B5EF4-FFF2-40B4-BE49-F238E27FC236}">
                <a16:creationId xmlns:a16="http://schemas.microsoft.com/office/drawing/2014/main" id="{0E4B2C5C-AD30-4198-B374-19F3B83BB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5257800"/>
            <a:ext cx="1862137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F97D062-E1AD-45A5-A031-C65671F95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617788"/>
            <a:ext cx="8343900" cy="233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US" sz="4600" kern="0" dirty="0"/>
              <a:t>CS519</a:t>
            </a:r>
          </a:p>
          <a:p>
            <a:pPr eaLnBrk="1" hangingPunct="1">
              <a:defRPr/>
            </a:pPr>
            <a:r>
              <a:rPr lang="en-US" sz="4600" kern="0" dirty="0"/>
              <a:t>Associate Degree Program (ADP)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AD0E64-9163-44DD-86FB-37B5FCFC1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76400"/>
            <a:ext cx="8686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US" sz="2400" kern="0" dirty="0"/>
              <a:t> Database Management System or Web Design and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C4BA8821-49EB-4F13-BF2B-93DA9DDEA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5900" dirty="0"/>
              <a:t>Introduction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139DC7B1-9927-4678-976F-2E39D21B9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514600"/>
            <a:ext cx="8153400" cy="1175706"/>
          </a:xfrm>
        </p:spPr>
        <p:txBody>
          <a:bodyPr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Khalid </a:t>
            </a:r>
            <a:r>
              <a:rPr lang="en-US" dirty="0" err="1"/>
              <a:t>usman</a:t>
            </a:r>
            <a:r>
              <a:rPr lang="en-US" dirty="0"/>
              <a:t> </a:t>
            </a:r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dirty="0">
                <a:effectLst/>
              </a:rPr>
              <a:t>Group Id: BC230412534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439DA79-5B05-440C-B99A-3F1190B64A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228600"/>
            <a:ext cx="77724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dirty="0"/>
              <a:t>INTRODUCTION OF PROJECT</a:t>
            </a:r>
            <a:endParaRPr lang="en-US" sz="4000" dirty="0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4AA85D8-FDAC-49A3-A8F3-5A34E7105A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 </a:t>
            </a:r>
          </a:p>
        </p:txBody>
      </p:sp>
      <p:pic>
        <p:nvPicPr>
          <p:cNvPr id="5124" name="Picture 8">
            <a:extLst>
              <a:ext uri="{FF2B5EF4-FFF2-40B4-BE49-F238E27FC236}">
                <a16:creationId xmlns:a16="http://schemas.microsoft.com/office/drawing/2014/main" id="{7B698052-ABAC-440B-9B3B-6798FE9A4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6305550"/>
            <a:ext cx="8382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 Box 9">
            <a:extLst>
              <a:ext uri="{FF2B5EF4-FFF2-40B4-BE49-F238E27FC236}">
                <a16:creationId xmlns:a16="http://schemas.microsoft.com/office/drawing/2014/main" id="{1C22BB97-6CC1-486B-A265-2A447F7CE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05085"/>
            <a:ext cx="86868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dirty="0"/>
              <a:t>Dairy Drop is an innovative web-based e-commerce platform that enables customers to easily browse, order, and receive fresh dairy products while providing admins with efficient management of products, orders, and payments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AD0FC0-FE10-699C-51AC-DF76F9454B0E}"/>
              </a:ext>
            </a:extLst>
          </p:cNvPr>
          <p:cNvSpPr/>
          <p:nvPr/>
        </p:nvSpPr>
        <p:spPr bwMode="auto">
          <a:xfrm>
            <a:off x="457200" y="304800"/>
            <a:ext cx="304800" cy="45719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522CE-06C8-24DE-3337-0AAA8AE4B205}"/>
              </a:ext>
            </a:extLst>
          </p:cNvPr>
          <p:cNvSpPr txBox="1"/>
          <p:nvPr/>
        </p:nvSpPr>
        <p:spPr>
          <a:xfrm>
            <a:off x="457200" y="533399"/>
            <a:ext cx="8305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5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6CDC31-D46E-83A3-1099-010AA3580462}"/>
              </a:ext>
            </a:extLst>
          </p:cNvPr>
          <p:cNvSpPr txBox="1"/>
          <p:nvPr/>
        </p:nvSpPr>
        <p:spPr>
          <a:xfrm>
            <a:off x="228600" y="38100"/>
            <a:ext cx="891540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Functional Requirements Non Functional requirements</a:t>
            </a:r>
          </a:p>
          <a:p>
            <a:r>
              <a:rPr lang="en-US" sz="2400" dirty="0"/>
              <a:t>&lt; A. Functional Requirements</a:t>
            </a:r>
          </a:p>
          <a:p>
            <a:r>
              <a:rPr lang="en-US" sz="3200" dirty="0"/>
              <a:t>  </a:t>
            </a:r>
          </a:p>
          <a:p>
            <a:pPr lvl="0"/>
            <a:r>
              <a:rPr lang="en-US" dirty="0"/>
              <a:t>User Account Management</a:t>
            </a:r>
          </a:p>
          <a:p>
            <a:pPr lvl="1"/>
            <a:r>
              <a:rPr lang="en-US" dirty="0"/>
              <a:t>Users can register, log in, and log out securely.</a:t>
            </a:r>
          </a:p>
          <a:p>
            <a:pPr lvl="1"/>
            <a:r>
              <a:rPr lang="en-US" dirty="0"/>
              <a:t>Users can update their profile information, delivery addresses, and view order history.</a:t>
            </a:r>
          </a:p>
          <a:p>
            <a:pPr lvl="1"/>
            <a:r>
              <a:rPr lang="en-US" dirty="0"/>
              <a:t>Admins can manage all registered users and control their access levels.</a:t>
            </a:r>
          </a:p>
          <a:p>
            <a:pPr lvl="0"/>
            <a:r>
              <a:rPr lang="en-US" dirty="0"/>
              <a:t>Product Management (Admin/Producer)</a:t>
            </a:r>
          </a:p>
          <a:p>
            <a:pPr lvl="1"/>
            <a:r>
              <a:rPr lang="en-US" dirty="0"/>
              <a:t>Admins or producers can add, edit, or remove products.</a:t>
            </a:r>
          </a:p>
          <a:p>
            <a:pPr lvl="1"/>
            <a:r>
              <a:rPr lang="en-US" dirty="0"/>
              <a:t>Products are organized into categories like milk, yogurt, cheese, butter, cream, and others.</a:t>
            </a:r>
          </a:p>
          <a:p>
            <a:pPr lvl="1"/>
            <a:r>
              <a:rPr lang="en-US" dirty="0"/>
              <a:t>Each product includes details such as price, nutritional facts, shelf life, description, and images.</a:t>
            </a:r>
          </a:p>
          <a:p>
            <a:pPr lvl="0"/>
            <a:r>
              <a:rPr lang="en-US" dirty="0"/>
              <a:t>Product Browsing and Search</a:t>
            </a:r>
          </a:p>
          <a:p>
            <a:pPr lvl="1"/>
            <a:r>
              <a:rPr lang="en-US" dirty="0"/>
              <a:t>Customers can view product lists and detailed product pages.</a:t>
            </a:r>
          </a:p>
          <a:p>
            <a:pPr lvl="1"/>
            <a:r>
              <a:rPr lang="en-US" dirty="0"/>
              <a:t>Filters for price, category, brand, and nutritional content are available to simplify product selection.</a:t>
            </a:r>
          </a:p>
          <a:p>
            <a:pPr lvl="0"/>
            <a:r>
              <a:rPr lang="en-US" dirty="0"/>
              <a:t>Shopping Cart and Checkout</a:t>
            </a:r>
          </a:p>
          <a:p>
            <a:pPr lvl="1"/>
            <a:r>
              <a:rPr lang="en-US" dirty="0"/>
              <a:t>Customers can add or remove products, update quantities, and view total costs in the shopping cart.</a:t>
            </a:r>
          </a:p>
          <a:p>
            <a:pPr lvl="1"/>
            <a:r>
              <a:rPr lang="en-US" dirty="0"/>
              <a:t>Checkout process captures delivery details and confirms orders for processing.</a:t>
            </a:r>
          </a:p>
        </p:txBody>
      </p:sp>
    </p:spTree>
    <p:extLst>
      <p:ext uri="{BB962C8B-B14F-4D97-AF65-F5344CB8AC3E}">
        <p14:creationId xmlns:p14="http://schemas.microsoft.com/office/powerpoint/2010/main" val="330475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721A16-9581-7061-593A-B718CE019E7F}"/>
              </a:ext>
            </a:extLst>
          </p:cNvPr>
          <p:cNvSpPr txBox="1"/>
          <p:nvPr/>
        </p:nvSpPr>
        <p:spPr>
          <a:xfrm>
            <a:off x="304800" y="457200"/>
            <a:ext cx="861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/>
              <a:t>Payment Options</a:t>
            </a:r>
          </a:p>
          <a:p>
            <a:pPr lvl="1"/>
            <a:r>
              <a:rPr lang="en-US"/>
              <a:t>Cash-on-Delivery (COD) is available for all orders.</a:t>
            </a:r>
          </a:p>
          <a:p>
            <a:pPr lvl="1"/>
            <a:r>
              <a:rPr lang="en-US"/>
              <a:t>Customers receive order confirmation after placing an order.</a:t>
            </a:r>
          </a:p>
          <a:p>
            <a:pPr lvl="0"/>
            <a:r>
              <a:rPr lang="en-US"/>
              <a:t>Order Tracking</a:t>
            </a:r>
          </a:p>
          <a:p>
            <a:pPr lvl="1"/>
            <a:r>
              <a:rPr lang="en-US"/>
              <a:t>Customers can track the status of their orders (Pending, Packed, Out for Delivery, Delivered).</a:t>
            </a:r>
          </a:p>
          <a:p>
            <a:pPr lvl="1"/>
            <a:r>
              <a:rPr lang="en-US"/>
              <a:t>Admins can update order statuses and manage deliveries efficiently.</a:t>
            </a:r>
          </a:p>
          <a:p>
            <a:pPr lvl="0"/>
            <a:r>
              <a:rPr lang="en-US"/>
              <a:t>Reviews and Ratings</a:t>
            </a:r>
          </a:p>
          <a:p>
            <a:pPr lvl="1"/>
            <a:r>
              <a:rPr lang="en-US"/>
              <a:t>Customers can provide feedback and rate purchased products.</a:t>
            </a:r>
          </a:p>
          <a:p>
            <a:pPr lvl="1"/>
            <a:r>
              <a:rPr lang="en-US"/>
              <a:t>Admins can manage reviews, removing inappropriate content when necessary.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03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551E965-CA8F-404A-9B22-1D7AA1118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Project Schedule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8396796-D10E-45F0-81D1-CA4598AA4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144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6148" name="Rectangle 5">
            <a:extLst>
              <a:ext uri="{FF2B5EF4-FFF2-40B4-BE49-F238E27FC236}">
                <a16:creationId xmlns:a16="http://schemas.microsoft.com/office/drawing/2014/main" id="{912A45F5-163A-495F-956D-B24C7FEE3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5AFBFB-6600-9EF1-BF51-A322855DD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865" y="1600201"/>
            <a:ext cx="7698935" cy="4046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333-56CB-45F3-BCD4-75BC3750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C2C4C-208A-47AD-B8CD-A492F0D16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D47518-7CF8-252A-39E7-B31670CC6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216" y="1447800"/>
            <a:ext cx="4353568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51E1-0CA1-4DBE-B2CA-312F4C42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Entity-Relationship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CE8C0C-5FBE-008D-5E07-9D5B15DDC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981200"/>
            <a:ext cx="61722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10F0E-2220-4F53-A559-329BE372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Relational Schema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CE1B69-FCD7-5F6B-6F40-DB188BDA6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14353"/>
            <a:ext cx="5208728" cy="4558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98E233F2-EC55-4E5C-A2BB-CE895A6FBB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4572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User Interfaces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8B89FE3E-B82E-4C8E-A874-25E9C0E79C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CD40E0-CCFE-6241-6B52-732BCF9BA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3533"/>
            <a:ext cx="9144000" cy="43109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A650-15BD-4531-8617-D095E2E3F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8A889-0ED4-43E5-B05D-42A49AAF0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Provide here the screen shots of results which are generated after applying database queries.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517DC-AD41-250F-4497-9BF44BD9C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5486"/>
            <a:ext cx="9144000" cy="45070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E040C945-BC6D-497A-8D33-74C13D694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Tools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BD81FCC-C41D-488B-8917-74D90493E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2286000"/>
          </a:xfrm>
        </p:spPr>
        <p:txBody>
          <a:bodyPr/>
          <a:lstStyle/>
          <a:p>
            <a:pPr eaLnBrk="1" hangingPunct="1">
              <a:defRPr/>
            </a:pPr>
            <a:endParaRPr lang="en-US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Vs code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 err="1"/>
              <a:t>Xamp</a:t>
            </a:r>
            <a:r>
              <a:rPr lang="en-US" dirty="0"/>
              <a:t> for database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F529A-317E-4D9C-9F3C-4493858B020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2514600"/>
            <a:ext cx="8229600" cy="4114800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sz="7200" b="1" dirty="0"/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xtured">
  <a:themeElements>
    <a:clrScheme name="Textured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ed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Textured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428</TotalTime>
  <Words>351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Tahoma</vt:lpstr>
      <vt:lpstr>Wingdings</vt:lpstr>
      <vt:lpstr>Textured</vt:lpstr>
      <vt:lpstr>PowerPoint Presentation</vt:lpstr>
      <vt:lpstr>Dairy Drop</vt:lpstr>
      <vt:lpstr>Introduction</vt:lpstr>
      <vt:lpstr>INTRODUCTION OF PROJECT</vt:lpstr>
      <vt:lpstr>PowerPoint Presentation</vt:lpstr>
      <vt:lpstr>PowerPoint Presentation</vt:lpstr>
      <vt:lpstr>PowerPoint Presentation</vt:lpstr>
      <vt:lpstr>Project Schedule</vt:lpstr>
      <vt:lpstr>Use Case Diagram</vt:lpstr>
      <vt:lpstr>Entity-Relationship Diagram</vt:lpstr>
      <vt:lpstr>Relational Schema</vt:lpstr>
      <vt:lpstr>User Interfaces</vt:lpstr>
      <vt:lpstr>Results</vt:lpstr>
      <vt:lpstr>Tools</vt:lpstr>
      <vt:lpstr>PowerPoint Presentation</vt:lpstr>
    </vt:vector>
  </TitlesOfParts>
  <Company>VU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 us Play Chess Online</dc:title>
  <dc:creator>MUHAMMAD HARIS SIDDIQUI</dc:creator>
  <cp:lastModifiedBy>Khalid Usman</cp:lastModifiedBy>
  <cp:revision>74</cp:revision>
  <dcterms:created xsi:type="dcterms:W3CDTF">2007-02-24T01:41:18Z</dcterms:created>
  <dcterms:modified xsi:type="dcterms:W3CDTF">2026-02-27T03:23:23Z</dcterms:modified>
</cp:coreProperties>
</file>